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fashion-ai-engine-app.streamlit.app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fashion-ai-engine-app.streamlit.app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fashion-ai-engine-app.streamlit.app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fashion-ai-engine-app.streamlit.app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fashion-ai-engine-app.streamlit.app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fashion-ai-engine-app.streamlit.app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09728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0B981"/>
                </a:solidFill>
                <a:latin typeface="Calibri"/>
              </a:rPr>
              <a:t>BLOQUE 2 · ANEXO TÉCNICO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554480"/>
            <a:ext cx="109728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400" b="1" i="0">
                <a:solidFill>
                  <a:srgbClr val="FFFFFF"/>
                </a:solidFill>
                <a:latin typeface="Calibri"/>
              </a:rPr>
              <a:t>Pipeline de ML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29184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0" i="1">
                <a:solidFill>
                  <a:srgbClr val="CBD5E1"/>
                </a:solidFill>
                <a:latin typeface="Calibri"/>
              </a:rPr>
              <a:t>De dato bruto a decisión.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8404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1">
                <a:solidFill>
                  <a:srgbClr val="10B981"/>
                </a:solidFill>
                <a:latin typeface="Calibri"/>
              </a:rPr>
              <a:t>End-to-end y reproducible.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097280" y="5029200"/>
            <a:ext cx="3474720" cy="0"/>
          </a:xfrm>
          <a:prstGeom prst="line">
            <a:avLst/>
          </a:prstGeom>
          <a:ln w="19050">
            <a:solidFill>
              <a:srgbClr val="10B9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097280" y="516636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CBD5E1"/>
                </a:solidFill>
                <a:latin typeface="Calibri"/>
              </a:rPr>
              <a:t>Esther Barranco Motos · Mayo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55778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0B981"/>
                </a:solidFill>
                <a:latin typeface="Consolas"/>
                <a:hlinkClick r:id="rId2"/>
              </a:rPr>
              <a:t>fashion-ai-engine-app.streamlit.app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0B981"/>
                </a:solidFill>
                <a:latin typeface="Calibri"/>
              </a:rPr>
              <a:t>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F172A"/>
                </a:solidFill>
                <a:latin typeface="Calibri"/>
              </a:rPr>
              <a:t>Del dato bruto a la decisión de producción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691640"/>
            <a:ext cx="11274552" cy="0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508863" y="2194560"/>
            <a:ext cx="2103120" cy="164592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8863" y="2194560"/>
            <a:ext cx="2103120" cy="365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6023" y="2331720"/>
            <a:ext cx="182879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059669"/>
                </a:solidFill>
                <a:latin typeface="Calibri"/>
              </a:rPr>
              <a:t>RAW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6023" y="2697480"/>
            <a:ext cx="182879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F172A"/>
                </a:solidFill>
                <a:latin typeface="Calibri"/>
              </a:rPr>
              <a:t>31,8M tx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6023" y="3429000"/>
            <a:ext cx="182879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onsolas"/>
              </a:rPr>
              <a:t>data/raw/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30271" y="2697480"/>
            <a:ext cx="14630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0B981"/>
                </a:solidFill>
                <a:latin typeface="Calibri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76575" y="2194560"/>
            <a:ext cx="2103120" cy="164592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776575" y="2194560"/>
            <a:ext cx="2103120" cy="365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13735" y="2331720"/>
            <a:ext cx="182879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059669"/>
                </a:solidFill>
                <a:latin typeface="Calibri"/>
              </a:rPr>
              <a:t>PROCESADO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13735" y="2697480"/>
            <a:ext cx="182879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F172A"/>
                </a:solidFill>
                <a:latin typeface="Calibri"/>
              </a:rPr>
              <a:t>2,2M filas
article × week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13735" y="3429000"/>
            <a:ext cx="182879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onsolas"/>
              </a:rPr>
              <a:t>weekly_sales.parquet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97983" y="2697480"/>
            <a:ext cx="14630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0B981"/>
                </a:solidFill>
                <a:latin typeface="Calibri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44287" y="2194560"/>
            <a:ext cx="2103120" cy="164592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44287" y="2194560"/>
            <a:ext cx="2103120" cy="365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81447" y="2331720"/>
            <a:ext cx="182879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059669"/>
                </a:solidFill>
                <a:latin typeface="Calibri"/>
              </a:rPr>
              <a:t>FEATURES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81447" y="2697480"/>
            <a:ext cx="182879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F172A"/>
                </a:solidFill>
                <a:latin typeface="Calibri"/>
              </a:rPr>
              <a:t>26 columnas
lags + rolling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81447" y="3429000"/>
            <a:ext cx="182879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onsolas"/>
              </a:rPr>
              <a:t>feature engineering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65695" y="2697480"/>
            <a:ext cx="14630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0B981"/>
                </a:solidFill>
                <a:latin typeface="Calibri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1999" y="2194560"/>
            <a:ext cx="2103120" cy="164592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311999" y="2194560"/>
            <a:ext cx="2103120" cy="365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49159" y="2331720"/>
            <a:ext cx="182879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059669"/>
                </a:solidFill>
                <a:latin typeface="Calibri"/>
              </a:rPr>
              <a:t>MODELOS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49159" y="2697480"/>
            <a:ext cx="182879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F172A"/>
                </a:solidFill>
                <a:latin typeface="Calibri"/>
              </a:rPr>
              <a:t>5 supervisados
+ KMeans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49159" y="3429000"/>
            <a:ext cx="182879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onsolas"/>
              </a:rPr>
              <a:t>GridSearch + CV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33407" y="2697480"/>
            <a:ext cx="14630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0B981"/>
                </a:solidFill>
                <a:latin typeface="Calibri"/>
              </a:rPr>
              <a:t>→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579711" y="2194560"/>
            <a:ext cx="2103120" cy="164592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579711" y="2194560"/>
            <a:ext cx="2103120" cy="365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716871" y="2331720"/>
            <a:ext cx="182879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059669"/>
                </a:solidFill>
                <a:latin typeface="Calibri"/>
              </a:rPr>
              <a:t>DECISIÓN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716871" y="2697480"/>
            <a:ext cx="182879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F172A"/>
                </a:solidFill>
                <a:latin typeface="Calibri"/>
              </a:rPr>
              <a:t>Simulador €
+ App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16871" y="3429000"/>
            <a:ext cx="182879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onsolas"/>
              </a:rPr>
              <a:t>5 páginas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41605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0B981"/>
                </a:solidFill>
                <a:latin typeface="Calibri"/>
              </a:rPr>
              <a:t>QUÉ HACE CADA ETAPA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452628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059669"/>
                </a:solidFill>
                <a:latin typeface="Consolas"/>
              </a:rPr>
              <a:t>RAW → PROCESADO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0" y="452628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Agrego transacciones a granularidad semanal por artículo (de 31,8M a 2,2M filas)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493776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059669"/>
                </a:solidFill>
                <a:latin typeface="Consolas"/>
              </a:rPr>
              <a:t>PROCESADO → FEATURES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57600" y="493776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Creo lags, rolling means, calendario, log-transform, filtro cold-start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534924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059669"/>
                </a:solidFill>
                <a:latin typeface="Consolas"/>
              </a:rPr>
              <a:t>FEATURES → MODELOS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0" y="5349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Entreno 5 algoritmos con GridSearchCV y selecciono el mejor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" y="576072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059669"/>
                </a:solidFill>
                <a:latin typeface="Consolas"/>
              </a:rPr>
              <a:t>MODELOS → DECISIÓN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57600" y="57607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El simulador combina las predicciones con supuestos económicos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1">
                <a:solidFill>
                  <a:srgbClr val="64748B"/>
                </a:solidFill>
                <a:latin typeface="Calibri"/>
              </a:rPr>
              <a:t>02 / 06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10B981"/>
                </a:solidFill>
                <a:latin typeface="Consolas"/>
                <a:hlinkClick r:id="rId2"/>
              </a:rPr>
              <a:t>fashion-ai-engine-app.streamlit.app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0B981"/>
                </a:solidFill>
                <a:latin typeface="Calibri"/>
              </a:rPr>
              <a:t>MODELOS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F172A"/>
                </a:solidFill>
                <a:latin typeface="Calibri"/>
              </a:rPr>
              <a:t>5 algoritmos comparados · LightGBM gana en producción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691640"/>
            <a:ext cx="11274552" cy="0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1828800"/>
            <a:ext cx="11430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64748B"/>
                </a:solidFill>
                <a:latin typeface="Calibri"/>
              </a:rPr>
              <a:t>Cada modelo se entrena con Pipeline + GridSearchCV + TimeSeriesSplit(3) sobre un sample de 100K filas.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331720"/>
            <a:ext cx="11247120" cy="4572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2450591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Modelo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97479" y="2450591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Familia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66360" y="2450591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WAPE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12280" y="2450591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Veredicto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788920"/>
            <a:ext cx="11247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907791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  <a:latin typeface="Calibri"/>
              </a:rPr>
              <a:t>Dummy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7479" y="2907791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  <a:latin typeface="Calibri"/>
              </a:rPr>
              <a:t>Baseline trivial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66360" y="2907791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  <a:latin typeface="Calibri"/>
              </a:rPr>
              <a:t>0.875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2280" y="2907791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  <a:latin typeface="Calibri"/>
              </a:rPr>
              <a:t>Predice la media · referencia mínima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246120"/>
            <a:ext cx="1124712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3364991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  <a:latin typeface="Calibri"/>
              </a:rPr>
              <a:t>Ridge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97479" y="3364991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  <a:latin typeface="Calibri"/>
              </a:rPr>
              <a:t>Regresión lineal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66360" y="3364991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  <a:latin typeface="Calibri"/>
              </a:rPr>
              <a:t>0.898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2280" y="3364991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  <a:latin typeface="Calibri"/>
              </a:rPr>
              <a:t>No captura no-linealidad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703320"/>
            <a:ext cx="11247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3822191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  <a:latin typeface="Calibri"/>
              </a:rPr>
              <a:t>RandomForest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97479" y="3822191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  <a:latin typeface="Calibri"/>
              </a:rPr>
              <a:t>Bagging de árboles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66360" y="3822191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  <a:latin typeface="Calibri"/>
              </a:rPr>
              <a:t>0.484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12280" y="3822191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  <a:latin typeface="Calibri"/>
              </a:rPr>
              <a:t>Muy bueno en sample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160520"/>
            <a:ext cx="1124712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427939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  <a:latin typeface="Calibri"/>
              </a:rPr>
              <a:t>XGBoost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97479" y="4279392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  <a:latin typeface="Calibri"/>
              </a:rPr>
              <a:t>Boosting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66360" y="4279392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  <a:latin typeface="Calibri"/>
              </a:rPr>
              <a:t>0.538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12280" y="4279392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  <a:latin typeface="Calibri"/>
              </a:rPr>
              <a:t>Competitivo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4617720"/>
            <a:ext cx="11247120" cy="457200"/>
          </a:xfrm>
          <a:prstGeom prst="rect">
            <a:avLst/>
          </a:prstGeom>
          <a:solidFill>
            <a:srgbClr val="ECFDF5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4360" y="473659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059669"/>
                </a:solidFill>
                <a:latin typeface="Calibri"/>
              </a:rPr>
              <a:t>LightGBM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697479" y="4736592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059669"/>
                </a:solidFill>
                <a:latin typeface="Calibri"/>
              </a:rPr>
              <a:t>Boosting eficiente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166360" y="4736592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059669"/>
                </a:solidFill>
                <a:latin typeface="Calibri"/>
              </a:rPr>
              <a:t>0.515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12280" y="4736592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059669"/>
                </a:solidFill>
                <a:latin typeface="Calibri"/>
              </a:rPr>
              <a:t>★ ELEGIDO · escala mejor en full dataset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5349240"/>
            <a:ext cx="11247120" cy="9144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" y="54864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0B981"/>
                </a:solidFill>
                <a:latin typeface="Calibri"/>
              </a:rPr>
              <a:t>POR QUÉ LIGHTGBM Y NO RANDOMFOREST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RandomForest gana por 5 puntos en sample 100K, pero al escalar a 1,76M filas LightGBM es 10× más rápido y maneja categóricas nativas (sin one-hot).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1">
                <a:solidFill>
                  <a:srgbClr val="64748B"/>
                </a:solidFill>
                <a:latin typeface="Calibri"/>
              </a:rPr>
              <a:t>03 / 06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10B981"/>
                </a:solidFill>
                <a:latin typeface="Consolas"/>
                <a:hlinkClick r:id="rId2"/>
              </a:rPr>
              <a:t>fashion-ai-engine-app.streamlit.app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0B981"/>
                </a:solidFill>
                <a:latin typeface="Calibri"/>
              </a:rPr>
              <a:t>SEGMENTACIÓN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F172A"/>
                </a:solidFill>
                <a:latin typeface="Calibri"/>
              </a:rPr>
              <a:t>KMeans · por qué k = 4 arquetipos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691640"/>
            <a:ext cx="11274552" cy="0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1920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0B981"/>
                </a:solidFill>
                <a:latin typeface="Calibri"/>
              </a:rPr>
              <a:t>POR QUÉ KMEANS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33172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0B981"/>
                </a:solidFill>
                <a:latin typeface="Calibri"/>
              </a:rPr>
              <a:t>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3317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Algoritmo no supervisado: agrupa productos sin necesidad de etiquetas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0B981"/>
                </a:solidFill>
                <a:latin typeface="Calibri"/>
              </a:rPr>
              <a:t>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7432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Escala bien a 75K productos sin coste computacional excesivo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154679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0B981"/>
                </a:solidFill>
                <a:latin typeface="Calibri"/>
              </a:rPr>
              <a:t>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154679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Centroides interpretables → cada cluster describe un arquetipo claro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749039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0B981"/>
                </a:solidFill>
                <a:latin typeface="Calibri"/>
              </a:rPr>
              <a:t>POR QUÉ K = 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1148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Probé k = {3, 4, 5, 6, 7, 8} y elegí por silhouette score: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52628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onsolas"/>
              </a:rPr>
              <a:t>k = 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86000" y="452628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onsolas"/>
              </a:rPr>
              <a:t>0,108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8188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059669"/>
                </a:solidFill>
                <a:latin typeface="Consolas"/>
              </a:rPr>
              <a:t>k = 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481888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059669"/>
                </a:solidFill>
                <a:latin typeface="Consolas"/>
              </a:rPr>
              <a:t>0,122 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111496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onsolas"/>
              </a:rPr>
              <a:t>k = 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86000" y="5111496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onsolas"/>
              </a:rPr>
              <a:t>0,116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404104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onsolas"/>
              </a:rPr>
              <a:t>k = 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5404104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onsolas"/>
              </a:rPr>
              <a:t>0,109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6967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onsolas"/>
              </a:rPr>
              <a:t>k = 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86000" y="569671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onsolas"/>
              </a:rPr>
              <a:t>0,098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1920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0B981"/>
                </a:solidFill>
                <a:latin typeface="Calibri"/>
              </a:rPr>
              <a:t>LOS 4 ARQUETIPOS DESCUBIERTOS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0" y="2331720"/>
            <a:ext cx="5303520" cy="84124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00800" y="2331720"/>
            <a:ext cx="45720" cy="8412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0" y="242316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059669"/>
                </a:solidFill>
                <a:latin typeface="Calibri"/>
              </a:rPr>
              <a:t>Cluster 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2697479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F172A"/>
                </a:solidFill>
                <a:latin typeface="Calibri"/>
              </a:rPr>
              <a:t>Jersey Basic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0" y="29718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Camisetas, básicos algodón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58400" y="2560320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2000" b="1" i="0">
                <a:solidFill>
                  <a:srgbClr val="059669"/>
                </a:solidFill>
                <a:latin typeface="Calibri"/>
              </a:rPr>
              <a:t>28.767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0" y="2926079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Calibri"/>
              </a:rPr>
              <a:t>productos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3291839"/>
            <a:ext cx="5303520" cy="84124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400800" y="3291839"/>
            <a:ext cx="45720" cy="8412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83680" y="3383279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059669"/>
                </a:solidFill>
                <a:latin typeface="Calibri"/>
              </a:rPr>
              <a:t>Cluster 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0" y="3657599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F172A"/>
                </a:solidFill>
                <a:latin typeface="Calibri"/>
              </a:rPr>
              <a:t>Trousers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0" y="393192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Pantalones varios cortes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058400" y="3520439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2000" b="1" i="0">
                <a:solidFill>
                  <a:srgbClr val="059669"/>
                </a:solidFill>
                <a:latin typeface="Calibri"/>
              </a:rPr>
              <a:t>21.743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058400" y="388620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Calibri"/>
              </a:rPr>
              <a:t>productos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0800" y="4251960"/>
            <a:ext cx="5303520" cy="84124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400800" y="4251960"/>
            <a:ext cx="45720" cy="8412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83680" y="43434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059669"/>
                </a:solidFill>
                <a:latin typeface="Calibri"/>
              </a:rPr>
              <a:t>Cluster 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83680" y="461772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F172A"/>
                </a:solidFill>
                <a:latin typeface="Calibri"/>
              </a:rPr>
              <a:t>Accessories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0" y="489204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Bolsos, complementos, joya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8400" y="4480560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2000" b="1" i="0">
                <a:solidFill>
                  <a:srgbClr val="059669"/>
                </a:solidFill>
                <a:latin typeface="Calibri"/>
              </a:rPr>
              <a:t>17.239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058400" y="484632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Calibri"/>
              </a:rPr>
              <a:t>productos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400800" y="5212080"/>
            <a:ext cx="5303520" cy="84124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400800" y="5212080"/>
            <a:ext cx="45720" cy="8412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583680" y="53035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059669"/>
                </a:solidFill>
                <a:latin typeface="Calibri"/>
              </a:rPr>
              <a:t>Cluster 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583680" y="557784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F172A"/>
                </a:solidFill>
                <a:latin typeface="Calibri"/>
              </a:rPr>
              <a:t>Outdoor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83680" y="585216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Chaquetas, ropa noche/casa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058400" y="5440680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2000" b="1" i="0">
                <a:solidFill>
                  <a:srgbClr val="059669"/>
                </a:solidFill>
                <a:latin typeface="Calibri"/>
              </a:rPr>
              <a:t>7.572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058400" y="580644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Calibri"/>
              </a:rPr>
              <a:t>productos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1">
                <a:solidFill>
                  <a:srgbClr val="64748B"/>
                </a:solidFill>
                <a:latin typeface="Calibri"/>
              </a:rPr>
              <a:t>04 / 06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10B981"/>
                </a:solidFill>
                <a:latin typeface="Consolas"/>
                <a:hlinkClick r:id="rId2"/>
              </a:rPr>
              <a:t>fashion-ai-engine-app.streamlit.app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0B981"/>
                </a:solidFill>
                <a:latin typeface="Calibri"/>
              </a:rPr>
              <a:t>PREDICCIÓN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F172A"/>
                </a:solidFill>
                <a:latin typeface="Calibri"/>
              </a:rPr>
              <a:t>Cómo el modelo aprende a predecir demanda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691640"/>
            <a:ext cx="11274552" cy="0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1920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0B981"/>
                </a:solidFill>
                <a:latin typeface="Calibri"/>
              </a:rPr>
              <a:t>QUÉ MIRA EL MODELO PARA PREDECIR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331720"/>
            <a:ext cx="45720" cy="5486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33172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0F172A"/>
                </a:solidFill>
                <a:latin typeface="Calibri"/>
              </a:rPr>
              <a:t>Lags temporales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06039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059669"/>
                </a:solidFill>
                <a:latin typeface="Consolas"/>
              </a:rPr>
              <a:t>lag_1, lag_2, lag_4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34639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64748B"/>
                </a:solidFill>
                <a:latin typeface="Calibri"/>
              </a:rPr>
              <a:t>Lo que vendió en semanas anteriores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971800"/>
            <a:ext cx="45720" cy="5486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97180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0F172A"/>
                </a:solidFill>
                <a:latin typeface="Calibri"/>
              </a:rPr>
              <a:t>Rolling means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24612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059669"/>
                </a:solidFill>
                <a:latin typeface="Consolas"/>
              </a:rPr>
              <a:t>media móvil 4 y 8 semanas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474720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64748B"/>
                </a:solidFill>
                <a:latin typeface="Calibri"/>
              </a:rPr>
              <a:t>Tendencia suavizada (anti-ruido)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611879"/>
            <a:ext cx="45720" cy="5486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611879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0F172A"/>
                </a:solidFill>
                <a:latin typeface="Calibri"/>
              </a:rPr>
              <a:t>Calendario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88620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059669"/>
                </a:solidFill>
                <a:latin typeface="Consolas"/>
              </a:rPr>
              <a:t>month, week_of_year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114800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64748B"/>
                </a:solidFill>
                <a:latin typeface="Calibri"/>
              </a:rPr>
              <a:t>Estacionalidad anual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251959"/>
            <a:ext cx="45720" cy="5486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4251959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0F172A"/>
                </a:solidFill>
                <a:latin typeface="Calibri"/>
              </a:rPr>
              <a:t>Categóricas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526279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059669"/>
                </a:solidFill>
                <a:latin typeface="Consolas"/>
              </a:rPr>
              <a:t>color, garment, depto…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754879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64748B"/>
                </a:solidFill>
                <a:latin typeface="Calibri"/>
              </a:rPr>
              <a:t>Tipo y atributos del producto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92040"/>
            <a:ext cx="45720" cy="5486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489204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0F172A"/>
                </a:solidFill>
                <a:latin typeface="Calibri"/>
              </a:rPr>
              <a:t>Log-transform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166359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059669"/>
                </a:solidFill>
                <a:latin typeface="Consolas"/>
              </a:rPr>
              <a:t>log(units_sold)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394959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64748B"/>
                </a:solidFill>
                <a:latin typeface="Calibri"/>
              </a:rPr>
              <a:t>Distribución asimétrica → más estable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5532120"/>
            <a:ext cx="45720" cy="5486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553212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0F172A"/>
                </a:solidFill>
                <a:latin typeface="Calibri"/>
              </a:rPr>
              <a:t>Filtro cold-start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80644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059669"/>
                </a:solidFill>
                <a:latin typeface="Consolas"/>
              </a:rPr>
              <a:t>≥ 4 semanas en train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6035040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64748B"/>
                </a:solidFill>
                <a:latin typeface="Calibri"/>
              </a:rPr>
              <a:t>Evita predecir productos muy nuevos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1920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0B981"/>
                </a:solidFill>
                <a:latin typeface="Calibri"/>
              </a:rPr>
              <a:t>CÓMO LO EVALÚO (SIN HACER TRAMPA)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0" y="2331720"/>
            <a:ext cx="5303520" cy="32004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0" y="246888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F172A"/>
                </a:solidFill>
                <a:latin typeface="Calibri"/>
              </a:rPr>
              <a:t>Validación temporal estricta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0" y="278892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64748B"/>
                </a:solidFill>
                <a:latin typeface="Calibri"/>
              </a:rPr>
              <a:t>Nunca uso datos del futuro para predecir el pasado.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83680" y="3246120"/>
            <a:ext cx="310896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680" y="333756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TRAIN  ·  1,59M filas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0" y="3794760"/>
            <a:ext cx="1554480" cy="457200"/>
          </a:xfrm>
          <a:prstGeom prst="rect">
            <a:avLst/>
          </a:prstGeom>
          <a:solidFill>
            <a:srgbClr val="6EE7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0" y="388620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VAL · 120K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83680" y="4343400"/>
            <a:ext cx="914400" cy="4572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83680" y="44348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TEST · 47K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0" y="498348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64748B"/>
                </a:solidFill>
                <a:latin typeface="Consolas"/>
              </a:rPr>
              <a:t>≤ 2020-06   |   06-08   |   &gt; 2020-08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00800" y="5669280"/>
            <a:ext cx="5303520" cy="640080"/>
          </a:xfrm>
          <a:prstGeom prst="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583680" y="576072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Resultado en test: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0" y="598932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59669"/>
                </a:solidFill>
                <a:latin typeface="Calibri"/>
              </a:rPr>
              <a:t>WAPE 0,515  ·  +7,5% vs baseline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1">
                <a:solidFill>
                  <a:srgbClr val="64748B"/>
                </a:solidFill>
                <a:latin typeface="Calibri"/>
              </a:rPr>
              <a:t>05 / 06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10B981"/>
                </a:solidFill>
                <a:latin typeface="Consolas"/>
                <a:hlinkClick r:id="rId2"/>
              </a:rPr>
              <a:t>fashion-ai-engine-app.streamlit.app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0B981"/>
                </a:solidFill>
                <a:latin typeface="Calibri"/>
              </a:rPr>
              <a:t>LIMITACIONES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F172A"/>
                </a:solidFill>
                <a:latin typeface="Calibri"/>
              </a:rPr>
              <a:t>Lo que el proyecto no hace · y por qué importa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691640"/>
            <a:ext cx="11274552" cy="0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1828800"/>
            <a:ext cx="11430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64748B"/>
                </a:solidFill>
                <a:latin typeface="Calibri"/>
              </a:rPr>
              <a:t>Cualquier proyecto de ML que no admita sus límites es sospechoso. Estas son las mías: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331720"/>
            <a:ext cx="45720" cy="8686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3317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F172A"/>
                </a:solidFill>
                <a:latin typeface="Calibri"/>
              </a:rPr>
              <a:t>Labels de devolución semi-sintéticas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176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H&amp;M no publica devoluciones reales. Las construí a partir de tasas sectoriales (Narvar, Optoro) por categoría y color.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926079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059669"/>
                </a:solidFill>
                <a:latin typeface="Calibri"/>
              </a:rPr>
              <a:t>→ Una v2 con datos reales (ASOS GraphReturns) eliminaría el sesgo.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337560"/>
            <a:ext cx="45720" cy="8686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33756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F172A"/>
                </a:solidFill>
                <a:latin typeface="Calibri"/>
              </a:rPr>
              <a:t>Simulador económico estático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65760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No modela elasticidad de precio ni dinámicas inter-temporales (un producto agotado afecta a la semana siguiente).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9319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059669"/>
                </a:solidFill>
                <a:latin typeface="Calibri"/>
              </a:rPr>
              <a:t>→ Una v2 incorporaría Bayesian dynamic programming.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343400"/>
            <a:ext cx="45720" cy="8686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34340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F172A"/>
                </a:solidFill>
                <a:latin typeface="Calibri"/>
              </a:rPr>
              <a:t>Cap de demanda 2,5×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66344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El multiplicador 2,5× sobre la predicción es un parámetro que decidí yo, no derivado de datos.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937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059669"/>
                </a:solidFill>
                <a:latin typeface="Calibri"/>
              </a:rPr>
              <a:t>→ Una calibración rigurosa requeriría análisis de saturación con datos históricos.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5349240"/>
            <a:ext cx="45720" cy="8686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34924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F172A"/>
                </a:solidFill>
                <a:latin typeface="Calibri"/>
              </a:rPr>
              <a:t>Recomputación interpolada en la app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669279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Los sliders interpolan sobre la curva precomputada en lugar de recalcular física por artículo.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9436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059669"/>
                </a:solidFill>
                <a:latin typeface="Calibri"/>
              </a:rPr>
              <a:t>→ Lo que hacen Tableau y Salesforce. Documentado en la app.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1">
                <a:solidFill>
                  <a:srgbClr val="64748B"/>
                </a:solidFill>
                <a:latin typeface="Calibri"/>
              </a:rPr>
              <a:t>06 / 06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10B981"/>
                </a:solidFill>
                <a:latin typeface="Consolas"/>
                <a:hlinkClick r:id="rId2"/>
              </a:rPr>
              <a:t>fashion-ai-engine-app.streamlit.app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